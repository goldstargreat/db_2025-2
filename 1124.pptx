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386DC-515A-2386-EA4D-FBB9870CB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DBDD8-5972-89F4-9A3B-AD1C42EA2F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C56B12-9A28-7FB0-60D1-DEC1A1394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87E694-97FA-DB4D-D4EC-FB4ED6237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0931B9-E2BF-D9F0-274D-D7CDFF47D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13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D83FF-3FA0-E7D3-CC02-52DC546C0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83FCB0-EA78-3A24-96B3-22A1E0973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FD5483-1693-80EB-D82D-AD56DC7E0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4496F-FEE3-35FE-293C-6DCE3BB66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153653-5CB6-3E4C-01E9-F69F17402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042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F1B1DE-3525-416E-1759-0D5160F6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CC0FD9-0B72-C044-1A36-9CC59B4EC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F3A078-3C90-2629-41D0-14AE95C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DADDD-4CF2-6F94-782B-DCA392DC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8F006A-3CCC-DA4F-AB24-816D1C16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573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13C03-1F14-C834-7024-437DD02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62D692-14AC-A8C4-5352-82248579D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4BD131-7E98-47CA-B517-AB9D09946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ABCA57-916C-EEF0-BD35-1EA14F8AE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6DAF98-130F-B325-1EAB-78DE96CEB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7A43C6-64F5-30D1-7B1C-4E1B9D79F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971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9B5318-E1EC-C438-1F64-895348AB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31F5F2-4E70-5909-304C-E00F55A38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13C6D6-6FDA-CEF6-309D-9DDA0E496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C1E978-80B0-2A5B-7C92-D5844965CA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AA2095-8418-ABA7-F1A7-662B8ED9EB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050E52-54F4-7848-A7E2-58C5C97D5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C7622AA-BCD4-04F3-5782-B0F28EC51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08DFA50-0364-3681-77A8-E66D56BA1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860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E160B-570E-976E-C6A4-5B7129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6F0D866-ADFA-9DCC-3B23-0BA34AF2C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B0BB2D-AA9F-0525-4D60-65887439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B8A4B8B-8F99-13CB-49AB-513DF5BBC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8407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518EFB3-FF0A-61C6-56B0-F3A7F84F0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7BE23F-54A9-FD3B-E002-C383E0734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35A357-B8A6-C7CD-CB7A-4F3FFDBD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977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2BE14E-8477-4F55-90F6-4832D2F7B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E9A63C-949B-18A2-2901-4CB451ECC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089266-A0B0-C5BD-F941-D66AFB83F9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BB4147-2441-3363-9132-E4F631A4C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FE19D4-566E-AB5A-77B1-4A84E45C9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F2A206-82F6-FD8B-8645-A067E422B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419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A7560C-10BD-8454-1BBD-AEBCDEFC0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722BA69-03C1-3354-2AE8-0B6DFFEBE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49F88C-7476-D727-F1C9-C1EFC91606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C52AA23-1F4F-C0AE-495E-D741B62CD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AEF920-548E-4F03-A8DA-DD3400CC5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F8B9D6-BEB0-49F4-B932-06B25CFFC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648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7888BB-10F6-089D-0D4B-A17E7D76C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472B69-10A7-9F19-8200-7E1767ECD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82545F-F3CC-A5AB-C087-A16D0BD49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FFB1CD-56C8-AB34-F5B0-C5BA98007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E1438-510E-EAC5-9091-E5976C43E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9692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DD22079-8AE7-5974-3D37-DFFC3EB17B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374EA82-D340-BDF8-100D-04617E5CF4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46CDF1-DFC4-521D-F2B6-A82F38352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8F4865-79F9-0926-AF65-BA00C327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23353F-5538-CC81-0D83-E99D1E8C5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676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01230DC-794B-55B0-C348-FB4789754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8A35D8-5A13-78E0-BBB0-A98B479DFD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4C2786-72B2-2978-3E24-0087DDC579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43756B-33E4-40B8-BD02-97FAD20D2DC9}" type="datetimeFigureOut">
              <a:rPr lang="ko-KR" altLang="en-US" smtClean="0"/>
              <a:t>2025-11-24-Mon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09FADD-BFBB-D50A-D633-67474B2AF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8A4D4B-C5CB-E09C-9EC6-C881011474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BEFFD-5714-49AC-AB8F-385E12129F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95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220B-967E-6649-B298-542BBC5A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8EB4F40-886F-1449-9F75-EBF4CA3CA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301033"/>
              </p:ext>
            </p:extLst>
          </p:nvPr>
        </p:nvGraphicFramePr>
        <p:xfrm>
          <a:off x="1242331" y="1212244"/>
          <a:ext cx="9442578" cy="33021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</a:tblGrid>
              <a:tr h="585612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비정규형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아이디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김현준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정소화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vip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간호사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원유선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28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교사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정지영</a:t>
                      </a: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회사원</a:t>
                      </a: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8941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73BC-1806-33BC-9043-DA170996E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D666DB9-B739-3E7E-DA6A-29DB8D0487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848547"/>
              </p:ext>
            </p:extLst>
          </p:nvPr>
        </p:nvGraphicFramePr>
        <p:xfrm>
          <a:off x="1023256" y="174019"/>
          <a:ext cx="9442578" cy="3173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</a:tblGrid>
              <a:tr h="430383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3532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아이디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518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김현준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518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정소화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vip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간호사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원유선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28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교사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04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정지영</a:t>
                      </a: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회사원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3518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정지영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31535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106143-28AD-6595-529F-D94F5438B1C1}"/>
              </a:ext>
            </a:extLst>
          </p:cNvPr>
          <p:cNvSpPr txBox="1"/>
          <p:nvPr/>
        </p:nvSpPr>
        <p:spPr>
          <a:xfrm>
            <a:off x="809625" y="4075331"/>
            <a:ext cx="108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정규형 릴레이션의 </a:t>
            </a:r>
            <a:r>
              <a:rPr lang="ko-KR" altLang="en-US" dirty="0" err="1"/>
              <a:t>기본키</a:t>
            </a:r>
            <a:r>
              <a:rPr lang="en-US" altLang="ko-KR" dirty="0"/>
              <a:t>: </a:t>
            </a:r>
            <a:r>
              <a:rPr lang="ko-KR" altLang="en-US" dirty="0" err="1"/>
              <a:t>다중값</a:t>
            </a:r>
            <a:r>
              <a:rPr lang="ko-KR" altLang="en-US" dirty="0"/>
              <a:t> 분리 후</a:t>
            </a:r>
            <a:r>
              <a:rPr lang="en-US" altLang="ko-KR" dirty="0"/>
              <a:t>, </a:t>
            </a:r>
            <a:r>
              <a:rPr lang="ko-KR" altLang="en-US" dirty="0"/>
              <a:t>고객을 유일하게 식별하기 위해 고객</a:t>
            </a:r>
            <a:r>
              <a:rPr lang="en-US" altLang="ko-KR" dirty="0"/>
              <a:t>ID, </a:t>
            </a:r>
            <a:r>
              <a:rPr lang="ko-KR" altLang="en-US" dirty="0"/>
              <a:t>직업을 복합 </a:t>
            </a:r>
            <a:endParaRPr lang="en-US" altLang="ko-KR" dirty="0"/>
          </a:p>
          <a:p>
            <a:r>
              <a:rPr lang="ko-KR" altLang="en-US" dirty="0"/>
              <a:t>기본키로 지정해야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8421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D1C92-5366-75E9-03B2-F5B132C4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059F530-F273-4DC3-1F7C-02399CFC0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912893"/>
              </p:ext>
            </p:extLst>
          </p:nvPr>
        </p:nvGraphicFramePr>
        <p:xfrm>
          <a:off x="232681" y="154969"/>
          <a:ext cx="5719535" cy="27797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869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960209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143907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</a:tblGrid>
              <a:tr h="402353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정보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아이디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김현준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정소화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vip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4397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원유선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28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397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정지영</a:t>
                      </a: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E80C1F5-1674-C2A0-B113-14D0C8FDE3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453706"/>
              </p:ext>
            </p:extLst>
          </p:nvPr>
        </p:nvGraphicFramePr>
        <p:xfrm>
          <a:off x="6629399" y="154969"/>
          <a:ext cx="4676775" cy="3183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925">
                  <a:extLst>
                    <a:ext uri="{9D8B030D-6E8A-4147-A177-3AD203B41FA5}">
                      <a16:colId xmlns:a16="http://schemas.microsoft.com/office/drawing/2014/main" val="871738188"/>
                    </a:ext>
                  </a:extLst>
                </a:gridCol>
                <a:gridCol w="1558925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58925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</a:tblGrid>
              <a:tr h="61817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직업 릴레이션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6181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아이디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J101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J102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간호사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4247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J103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교사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247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J104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회사원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J101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315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A3CD4B7-676A-E464-97DC-97F68BB9E9B3}"/>
              </a:ext>
            </a:extLst>
          </p:cNvPr>
          <p:cNvSpPr txBox="1"/>
          <p:nvPr/>
        </p:nvSpPr>
        <p:spPr>
          <a:xfrm>
            <a:off x="428625" y="3805686"/>
            <a:ext cx="1018222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제</a:t>
            </a:r>
            <a:r>
              <a:rPr lang="en-US" altLang="ko-KR" sz="1400" dirty="0"/>
              <a:t>2 </a:t>
            </a:r>
            <a:r>
              <a:rPr lang="ko-KR" altLang="en-US" sz="1400" dirty="0"/>
              <a:t>정규형 </a:t>
            </a:r>
            <a:r>
              <a:rPr lang="en-US" altLang="ko-KR" sz="1400" dirty="0"/>
              <a:t>(2NF: Second Normal Form)</a:t>
            </a:r>
          </a:p>
          <a:p>
            <a:endParaRPr lang="en-US" altLang="ko-KR" sz="1400" dirty="0"/>
          </a:p>
          <a:p>
            <a:r>
              <a:rPr lang="ko-KR" altLang="en-US" sz="1400" dirty="0"/>
              <a:t>조건</a:t>
            </a:r>
            <a:r>
              <a:rPr lang="en-US" altLang="ko-KR" sz="1400" dirty="0"/>
              <a:t>: 1NF</a:t>
            </a:r>
            <a:r>
              <a:rPr lang="ko-KR" altLang="en-US" sz="1400" dirty="0"/>
              <a:t>를 만족하고</a:t>
            </a:r>
            <a:r>
              <a:rPr lang="en-US" altLang="ko-KR" sz="1400" dirty="0"/>
              <a:t>, </a:t>
            </a:r>
            <a:r>
              <a:rPr lang="ko-KR" altLang="en-US" sz="1400" dirty="0"/>
              <a:t>기본키가 아닌 모든 속성이 </a:t>
            </a:r>
            <a:r>
              <a:rPr lang="ko-KR" altLang="en-US" sz="1400" dirty="0" err="1"/>
              <a:t>기본키</a:t>
            </a:r>
            <a:r>
              <a:rPr lang="ko-KR" altLang="en-US" sz="1400" dirty="0"/>
              <a:t> 전체에 대해 </a:t>
            </a:r>
            <a:r>
              <a:rPr lang="ko-KR" altLang="en-US" sz="1400" u="sng" dirty="0"/>
              <a:t>완전 함수 종속</a:t>
            </a:r>
            <a:r>
              <a:rPr lang="ko-KR" altLang="en-US" sz="1400" dirty="0"/>
              <a:t>이어야 합니다</a:t>
            </a:r>
            <a:r>
              <a:rPr lang="en-US" altLang="ko-KR" sz="1400" dirty="0"/>
              <a:t>. (</a:t>
            </a:r>
            <a:r>
              <a:rPr lang="ko-KR" altLang="en-US" sz="1400" dirty="0"/>
              <a:t>부분 함수 종속 제거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ko-KR" altLang="en-US" sz="1400" dirty="0"/>
              <a:t>함수 종속성 분석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기본키</a:t>
            </a:r>
            <a:r>
              <a:rPr lang="en-US" altLang="ko-KR" sz="1400" dirty="0"/>
              <a:t>: {</a:t>
            </a:r>
            <a:r>
              <a:rPr lang="ko-KR" altLang="en-US" sz="1400" dirty="0" err="1"/>
              <a:t>고객아이디</a:t>
            </a:r>
            <a:r>
              <a:rPr lang="en-US" altLang="ko-KR" sz="1400" dirty="0"/>
              <a:t>, </a:t>
            </a:r>
            <a:r>
              <a:rPr lang="ko-KR" altLang="en-US" sz="1400" dirty="0"/>
              <a:t>직업</a:t>
            </a:r>
            <a:r>
              <a:rPr lang="en-US" altLang="ko-KR" sz="1400" dirty="0"/>
              <a:t>})</a:t>
            </a:r>
          </a:p>
          <a:p>
            <a:endParaRPr lang="en-US" altLang="ko-KR" sz="1400" dirty="0"/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고객</a:t>
            </a:r>
            <a:r>
              <a:rPr lang="en-US" altLang="ko-KR" sz="1400" dirty="0"/>
              <a:t>ID, </a:t>
            </a:r>
            <a:r>
              <a:rPr lang="ko-KR" altLang="en-US" sz="1400" dirty="0"/>
              <a:t>직업</a:t>
            </a:r>
            <a:r>
              <a:rPr lang="en-US" altLang="ko-KR" sz="1400" dirty="0"/>
              <a:t>} → </a:t>
            </a:r>
            <a:r>
              <a:rPr lang="ko-KR" altLang="en-US" sz="1400" dirty="0"/>
              <a:t>고객이름</a:t>
            </a:r>
            <a:r>
              <a:rPr lang="en-US" altLang="ko-KR" sz="1400" dirty="0"/>
              <a:t>, </a:t>
            </a:r>
            <a:r>
              <a:rPr lang="ko-KR" altLang="en-US" sz="1400" dirty="0"/>
              <a:t>나이</a:t>
            </a:r>
            <a:r>
              <a:rPr lang="en-US" altLang="ko-KR" sz="1400" dirty="0"/>
              <a:t>, </a:t>
            </a:r>
            <a:r>
              <a:rPr lang="ko-KR" altLang="en-US" sz="1400" dirty="0"/>
              <a:t>등급</a:t>
            </a:r>
            <a:r>
              <a:rPr lang="en-US" altLang="ko-KR" sz="1400" dirty="0"/>
              <a:t>, </a:t>
            </a:r>
            <a:r>
              <a:rPr lang="ko-KR" altLang="en-US" sz="1400" dirty="0"/>
              <a:t>적립금</a:t>
            </a:r>
            <a:r>
              <a:rPr lang="en-US" altLang="ko-KR" sz="1400" dirty="0"/>
              <a:t>, </a:t>
            </a:r>
            <a:r>
              <a:rPr lang="ko-KR" altLang="en-US" sz="1400" dirty="0"/>
              <a:t>직업 </a:t>
            </a:r>
            <a:r>
              <a:rPr lang="en-US" altLang="ko-KR" sz="1400" dirty="0"/>
              <a:t>(</a:t>
            </a:r>
            <a:r>
              <a:rPr lang="ko-KR" altLang="en-US" sz="1400" dirty="0"/>
              <a:t>완전 함수 종속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고객</a:t>
            </a:r>
            <a:r>
              <a:rPr lang="en-US" altLang="ko-KR" sz="1400" dirty="0"/>
              <a:t>ID} → </a:t>
            </a:r>
            <a:r>
              <a:rPr lang="ko-KR" altLang="en-US" sz="1400" dirty="0"/>
              <a:t>고객이름</a:t>
            </a:r>
            <a:r>
              <a:rPr lang="en-US" altLang="ko-KR" sz="1400" dirty="0"/>
              <a:t>, </a:t>
            </a:r>
            <a:r>
              <a:rPr lang="ko-KR" altLang="en-US" sz="1400" dirty="0"/>
              <a:t>나이</a:t>
            </a:r>
            <a:r>
              <a:rPr lang="en-US" altLang="ko-KR" sz="1400" dirty="0"/>
              <a:t>, </a:t>
            </a:r>
            <a:r>
              <a:rPr lang="ko-KR" altLang="en-US" sz="1400" dirty="0"/>
              <a:t>등급</a:t>
            </a:r>
            <a:r>
              <a:rPr lang="en-US" altLang="ko-KR" sz="1400" dirty="0"/>
              <a:t>, </a:t>
            </a:r>
            <a:r>
              <a:rPr lang="ko-KR" altLang="en-US" sz="1400" dirty="0"/>
              <a:t>적립금 </a:t>
            </a:r>
            <a:r>
              <a:rPr lang="en-US" altLang="ko-KR" sz="1400" dirty="0"/>
              <a:t>(</a:t>
            </a:r>
            <a:r>
              <a:rPr lang="ko-KR" altLang="en-US" sz="1400" dirty="0"/>
              <a:t>부분 함수 종속</a:t>
            </a:r>
            <a:r>
              <a:rPr lang="en-US" altLang="ko-KR" sz="1400" dirty="0"/>
              <a:t>: </a:t>
            </a:r>
            <a:r>
              <a:rPr lang="ko-KR" altLang="en-US" sz="1400" dirty="0"/>
              <a:t>기본키의 일부인 고객</a:t>
            </a:r>
            <a:r>
              <a:rPr lang="en-US" altLang="ko-KR" sz="1400" dirty="0"/>
              <a:t>ID</a:t>
            </a:r>
            <a:r>
              <a:rPr lang="ko-KR" altLang="en-US" sz="1400" dirty="0"/>
              <a:t>가 다른 속성들을 결정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ko-KR" altLang="en-US" sz="1400" dirty="0"/>
              <a:t>부분 함수 종속 </a:t>
            </a:r>
            <a:r>
              <a:rPr lang="en-US" altLang="ko-KR" sz="1400" dirty="0"/>
              <a:t>{</a:t>
            </a:r>
            <a:r>
              <a:rPr lang="ko-KR" altLang="en-US" sz="1400" dirty="0"/>
              <a:t>고객</a:t>
            </a:r>
            <a:r>
              <a:rPr lang="en-US" altLang="ko-KR" sz="1400" dirty="0"/>
              <a:t>ID} → </a:t>
            </a:r>
            <a:r>
              <a:rPr lang="ko-KR" altLang="en-US" sz="1400" dirty="0"/>
              <a:t>고객이름</a:t>
            </a:r>
            <a:r>
              <a:rPr lang="en-US" altLang="ko-KR" sz="1400" dirty="0"/>
              <a:t>, </a:t>
            </a:r>
            <a:r>
              <a:rPr lang="ko-KR" altLang="en-US" sz="1400" dirty="0"/>
              <a:t>나이</a:t>
            </a:r>
            <a:r>
              <a:rPr lang="en-US" altLang="ko-KR" sz="1400" dirty="0"/>
              <a:t>, </a:t>
            </a:r>
            <a:r>
              <a:rPr lang="ko-KR" altLang="en-US" sz="1400" dirty="0"/>
              <a:t>등급</a:t>
            </a:r>
            <a:r>
              <a:rPr lang="en-US" altLang="ko-KR" sz="1400" dirty="0"/>
              <a:t>, </a:t>
            </a:r>
            <a:r>
              <a:rPr lang="ko-KR" altLang="en-US" sz="1400" dirty="0"/>
              <a:t>적립금을 제거하기 위해 이 속성들을 별도의 릴레이션으로 분리합니다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0659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4FA26-9BD7-661C-93F7-032F13F7F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FC93BA-0BB6-9180-C0D4-1FBEAFC86F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803825"/>
              </p:ext>
            </p:extLst>
          </p:nvPr>
        </p:nvGraphicFramePr>
        <p:xfrm>
          <a:off x="232681" y="154969"/>
          <a:ext cx="4575628" cy="27797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869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960209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</a:tblGrid>
              <a:tr h="402353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아이디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김현준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289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정소화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vip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4397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원유선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28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397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정지영</a:t>
                      </a: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E1C50-0997-BC1E-95A7-07F96A22E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701819"/>
              </p:ext>
            </p:extLst>
          </p:nvPr>
        </p:nvGraphicFramePr>
        <p:xfrm>
          <a:off x="6619875" y="154969"/>
          <a:ext cx="3181350" cy="2414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75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90675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</a:tblGrid>
              <a:tr h="61817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 혜택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61817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1000, 4500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vip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2500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4247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D29F28A-7E14-556E-E2DE-8BDA965802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779236"/>
              </p:ext>
            </p:extLst>
          </p:nvPr>
        </p:nvGraphicFramePr>
        <p:xfrm>
          <a:off x="6619875" y="2728804"/>
          <a:ext cx="3181350" cy="299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75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90675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</a:tblGrid>
              <a:tr h="61817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정규형 릴레이션</a:t>
                      </a:r>
                      <a:r>
                        <a:rPr lang="en-US" alt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 </a:t>
                      </a:r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직업 릴레이션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4125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apple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8789459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Banana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3532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carrot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교사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4247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회사원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247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orange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66179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21F9C17-CA6B-2BCD-E24C-5D54B07DF6BF}"/>
              </a:ext>
            </a:extLst>
          </p:cNvPr>
          <p:cNvSpPr txBox="1"/>
          <p:nvPr/>
        </p:nvSpPr>
        <p:spPr>
          <a:xfrm>
            <a:off x="232681" y="3789888"/>
            <a:ext cx="5863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이행적</a:t>
            </a:r>
            <a:r>
              <a:rPr lang="ko-KR" altLang="en-US" dirty="0"/>
              <a:t> 함수 종속 등급 </a:t>
            </a:r>
            <a:r>
              <a:rPr lang="en-US" altLang="ko-KR" sz="1800" dirty="0"/>
              <a:t>→</a:t>
            </a:r>
            <a:r>
              <a:rPr lang="en-US" altLang="ko-KR" dirty="0"/>
              <a:t> </a:t>
            </a:r>
            <a:r>
              <a:rPr lang="ko-KR" altLang="en-US" dirty="0"/>
              <a:t>적립금을 제거하기 위해 이 속성들을 별도의 릴레이션으로 분리한다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7898D-16FC-B007-2F7F-D6DFFFF7FA8B}"/>
              </a:ext>
            </a:extLst>
          </p:cNvPr>
          <p:cNvSpPr txBox="1"/>
          <p:nvPr/>
        </p:nvSpPr>
        <p:spPr>
          <a:xfrm>
            <a:off x="232681" y="4905375"/>
            <a:ext cx="59966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분리 후에는 </a:t>
            </a:r>
            <a:r>
              <a:rPr lang="en-US" altLang="ko-KR" dirty="0"/>
              <a:t>gold </a:t>
            </a:r>
            <a:r>
              <a:rPr lang="ko-KR" altLang="en-US" dirty="0"/>
              <a:t>등급의 적립금을 수정할 때 등급 혜택 릴레이션의 단 하나의 </a:t>
            </a:r>
            <a:r>
              <a:rPr lang="ko-KR" altLang="en-US" dirty="0" err="1"/>
              <a:t>튜플만</a:t>
            </a:r>
            <a:r>
              <a:rPr lang="ko-KR" altLang="en-US" dirty="0"/>
              <a:t> 수정하면 되므로 갱신 </a:t>
            </a:r>
            <a:endParaRPr lang="en-US" altLang="ko-KR" dirty="0"/>
          </a:p>
          <a:p>
            <a:r>
              <a:rPr lang="ko-KR" altLang="en-US" dirty="0"/>
              <a:t>이상 문제가 해결된다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767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381</Words>
  <Application>Microsoft Office PowerPoint</Application>
  <PresentationFormat>와이드스크린</PresentationFormat>
  <Paragraphs>172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D2Coding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박경구</dc:creator>
  <cp:lastModifiedBy>박경구</cp:lastModifiedBy>
  <cp:revision>42</cp:revision>
  <dcterms:created xsi:type="dcterms:W3CDTF">2025-11-24T06:11:46Z</dcterms:created>
  <dcterms:modified xsi:type="dcterms:W3CDTF">2025-11-24T07:02:22Z</dcterms:modified>
</cp:coreProperties>
</file>